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estudo gerado a partir da gravação transcrita da aula, dos slides da professora e das discussões em turma. Uso pessoal: o material original da professora é protegido por direitos autorais.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da aula (PDF): conhecer a IA Clássica; entender os tipos de Machine Learning; discutir cases e vieses; aplicar IA Clássica através da correlação estatística.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executiva: de onde vieram esses dados e quem ficou de fora? Uma amostra grande e enviesada é pior que uma pequena e representativa, porque passa confiança falsa.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Mitigação da confirmação: definir hipótese e recorte ANTES da análise, registrar todas as análises e fazer revisão independente. Mitigação da variável omitida: conhecer o domínio, mapear as causas e usar experimentos A/B.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Ligação com a Parte 1: é o viés de confirmação aplicado à estratégia.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Outras opções: IA assumindo o controle; vieses e discriminação algorítmica; obsolescência humana; hype (IA como bala de prata).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Peter: 'saber que eu não devo transferir 25 milhões numa reunião, mesmo para o CEO', é o conhecimento crítico. Com procedimento, não importa se é IA ou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Hong Kong: manifestantes usaram máscaras e óculos contra a identificação. Júlio: camiseta com estampa que torna a pessoa invisível ao algoritmo (ataque adversarial). Para ir ao ar, é preciso um painel completo de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this-person-does-not-exist.com: no começo as imagens tinham falhas (orelha deslocada, cabelo recortado). Deep learning é usado para dados não estruturados. Goodfellow (2014). Hoje os modelos de difusão dominam a geração de imagens. A professora usa GANs para gerar bases sintéticas.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Tirinha Turing Test 2208: a máquina reconhece o humano como o 'burro'. CAPTCHAs são o Teste de Turing ao contrário. Lição: antropomorfização é um viés cognitivo.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Aline: se todo cargo tiver que dominar IA, as pessoas perdem o foco na especialidade? Professora: entenda a IA para se posicionar e estabelecer limites; grandes implementações continuam com times de desenvolvimento. Peter: a IA vai ser como a datilografia, natural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Ressalvas: amostra pequena, preprint. Wesley/Gartner: quem sabe fazer sem IA será o profissional valioso do futuro. Professora: a velocidade da mudança é o que mais preocupa. A máquina é ótima em hard skills, mas 'não tem alma'.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líderes: em ML, os dados são o novo código. Vieses nos dados viram vieses no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Dataiku: plataforma colaborativa que testa de 10 a 15 modelos (AutoML) em cerca de 1 hora; depois vem o fine tuning. YOLO: detecção em tempo real, mas confundiu gato com cachorro, e um cachorro listrado pela sombra do portão virou 'tigre'.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 combinam os três: pré-treino autossupervisionado, ajuste fino supervisionado e RLHF (reforço com feedback humano). A professora disse que ~80% da IA é supervisionada, inclusive os LLMs.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'Classificar pato não tem utilidade, não somos zoológicos, mas fazemos muito isso no mercado.' O nome do cluster vem depois, pela interpretação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técnica: o MarI/O usa NEAT, um algoritmo genético/evolutivo; ilustra bem o reforço (agente, ambiente, ação, recompensa). Cuidado com o 'reward hacking': o agente otimiza exatamente a métrica que você definiu.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Mantemos ou demitimos o promotor? Ele impacta o preço, isso é fato; se afeta a venda é a pergunta. Falta estratégia e meta. Antes da correlação, rode a estatística descritiva (média, mediana, desvio, mín., máx.).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Recomendação ao diretor: tratar o tempo de resolução como alavanca de satisfação, com metas por criticidade, começando pelo telefone. Experimento: piloto de fila expressa + callback × grupo controle.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Entrega: PDF no portal com os RMs separados por vírgula; prazo até a próxima aula; informar qual IA foi usada. Hipótese que cai não é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CONCEPTS · AULA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Clássica, Vieses e Correlação Estatística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estudo · Resumo da aula, discussões da turma e Hands 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Profª Tassiana Rugoni de Campos  ·  FIAP MBA  ·  28/09/2026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Vieses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Seleção, confirmação e variável omitida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da IA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Deepfake, reconhecimento facial e enquete da turma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pensam?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GANs, Teste de Turing e o caso LaMDA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Agentes, antropomorfização e pensamento crítico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069080"/>
            <a:ext cx="548640" cy="54864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Clássica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ML, overfitting e o mapa do ML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069080"/>
            <a:ext cx="548640" cy="54864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 On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estatística e caderno de hipóteses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de Seleção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 não representa a população e a conclusão se inverte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01968" y="1527048"/>
            <a:ext cx="5084064" cy="3857105"/>
          </a:xfrm>
          <a:prstGeom prst="roundRect">
            <a:avLst>
              <a:gd name="adj" fmla="val 1897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Users/antoniosergiorfigueiredo/AulasMBA/AI-Core-Concepts/ppt_build/img/pg18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00200"/>
            <a:ext cx="4937760" cy="371080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75120" y="542072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da aula: 9 pessoas, e o quadrado vermelho seleciona só as 3 mulheres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AMOSTRA prefere uva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de 3 mulheres)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POPULAÇÃO prefere banana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de 9 pessoas)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31920"/>
            <a:ext cx="56692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está no critério,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no tamanho: aumentar a amostra do mesmo jeito não resolve.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treinado com dados enviesados reproduz e amplia o viés (crédito, reconhecimento facial, RH).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aleatória ou estratificada, comparar a amostra com a população, documentar a origem dos dados.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Outros vieses: Confirmação e Variável Omitida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5266944" cy="3994543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19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120640" cy="38482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4630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de Confirmação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029968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que confirmam a crença são sobrevalorizados; os que contradizem, subvalorizados.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da professora: o gestor pede para "filtrar a base" (só 2025, tirar variáveis) até a hipótese dele parecer verdadeira.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39776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Variável Omitida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544568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relevante fica fora e distorce a relação.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→ estuda menos (−) e pontua mais (+). Sem o QI, o efeito do estudo sobre a nota parece menor ou até negativo.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Reaparece no Hands On (Paradoxo de Simpson).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Tentativas de negar a mudança de modelos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5907024" cy="4475572"/>
          </a:xfrm>
          <a:prstGeom prst="roundRect">
            <a:avLst>
              <a:gd name="adj" fmla="val 1634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20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760720" cy="43292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49440" y="1554480"/>
            <a:ext cx="46634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1903, Horace Rackham: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"Cavalos sempre existirão; automóveis são modismo."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1962, Decca Records: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"Bandas com guitarristas estão acabando" (recusou os Beatles).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2007, Steve Ballmer: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"Nenhuma chance de o iPhone ter market share significativo."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429768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43891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Líderes avaliam o novo com os critérios do modelo antigo. A pergunta certa não é "a IA vai pegar?", e sim "o que precisa ser verdade para isso mudar meu negócio?"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desafios mais críticos da IA, segundo a turma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Enquete Poll Everywhere · 34 votos · 7 opções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76288" y="1527048"/>
            <a:ext cx="4809744" cy="3650950"/>
          </a:xfrm>
          <a:prstGeom prst="roundRect">
            <a:avLst>
              <a:gd name="adj" fmla="val 2004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Users/antoniosergiorfigueiredo/AulasMBA/AI-Core-Concepts/ppt_build/img/pg15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00200"/>
            <a:ext cx="4663440" cy="350464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521457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 opções da enquete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Déficits cognitivos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reduzindo o aprendizado e o pensamento crítico (também no top 3 da professora)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154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Legislação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regulação ou regulação excessiva, que "trava a inovação"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663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3º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cibernéticos facilitados pela IA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Deepfake: a reunião em que ninguém era real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24928" y="1389888"/>
            <a:ext cx="4261104" cy="3238639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22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63040"/>
            <a:ext cx="4114800" cy="30923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0" y="46651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Brasil, 04/02/2024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US$ 25 mi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transferidos por um funcionário após uma videoconferência em que CFO e colegas eram deepfakes (Hong Kong)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91840"/>
            <a:ext cx="6400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foi só tecnologia: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autoriza US$ 25 mi verbalmente num Zoom? (turma da PwC)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pesa: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foi clonado era um executivo sênior, e é difícil questionar "o chefe".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e voz deixaram de ser prova de identidade.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fora do canal, palavra-código, dupla aprovação, limites de valor.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facial e a matriz de confusão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4169664" cy="31699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24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0" cy="3023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596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StartSe, 08/07/2019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alertas da polícia de Londres eram falsos positivos (8 de 42 corretos)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06324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procurado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inocente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Sistema: "procurado"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Verdadeiro 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Sistema: "não é"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Verdadeiro 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212080" y="4572000"/>
            <a:ext cx="64008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"Guerra estatística":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divulgar só as taxas de FP e FN em vez dos 81% mascara o resultado.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erro é pior?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contexto. Aqui, FP = inocente abordado; num diagnóstico de câncer, o FN costuma ser pior.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GANs: como se gera um rosto que não existe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5815584" cy="4406854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26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669280" cy="42605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583331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gerador × discriminador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4813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exemplos falsos a partir de ruído (o "falsificador")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49440" y="2697480"/>
            <a:ext cx="457200" cy="457200"/>
          </a:xfrm>
          <a:prstGeom prst="ellipse">
            <a:avLst/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6243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binário: real ou fake? (o "perito")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49440" y="3840480"/>
            <a:ext cx="457200" cy="457200"/>
          </a:xfrm>
          <a:prstGeom prst="ellipse">
            <a:avLst/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37673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adversarial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é atualizado com o erro do outro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49440" y="4983480"/>
            <a:ext cx="457200" cy="45720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49103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discriminador erra ~50%, e o fake fica indistinguível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pensam? Do Teste de Turing ao LaMDA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4352544" cy="3307357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29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206240" cy="31610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2029968"/>
            <a:ext cx="1645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Turing: se não distinguimos humano de máquina numa conversa, a máquina "passa".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"Já não serve mais pra nada" (professora).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4380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029968"/>
            <a:ext cx="1645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Chinês (Searle): manipular símbolos não é compreender.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Imitar ≠ entender.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9264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755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2029968"/>
            <a:ext cx="1645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demite Blake Lemoine, que disse que o LaMDA tinha consciência.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ELIZA.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507492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120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"Há 4 ou 5 anos os alunos achavam essa pergunta ridícula. Hoje já ouço alguns 'sims'." AGI e IA senciente já aparecem no Hype Cycle da Gartner.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Debate: agentes, antropomorfização e hype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"Analista Financeiro 1"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29968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proibiu dar a um agente de IA o nome de um cargo humano. Nomear aproxima as pessoas, mas faz esquecer que é código que erra: sem humano no loop, sem guardrails.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agentes em 3 meses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29968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"mágica" que resultou em 200 PoCs, alguns MVPs e ROI zero. Agora: letramento, arquitetura, guardrails, humano no loop e FinOps.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Copiloto, não piloto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498848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humano à frente e o agente trazendo informação. Accountability: quem responde pelo erro do agente? (Peter)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"Faça UM agente funcionar"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498848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vá para o segundo. Engenheiros: "codávamos em 4 h; agora em 30 min, e levamos 8 h para entender o que a IA fez".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reduz o aprendizado e o pensamento crítico?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5266944" cy="3994543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32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120640" cy="38482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542100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Media Lab (2025), "Your Brain on ChatGPT": EEG em 3 grupos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463040"/>
            <a:ext cx="539496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cerebral: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apoio &gt; Google &gt; ChatGPT. "O cérebro vai desligando à medida que recebe suporte."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e autoria: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usou LLM teve dificuldade de defender a própria redação.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empresas: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"PPTs fantásticos e pessoas se perdendo para explicar os números".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cortou o acesso deles a LLMs para "não emburrecerem".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Contraponto (Peter):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e a internet também mudaram o aprendizado. "Ninguém sabe mais fazer fogo, e tudo bem."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Artificial Clássica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"Não desprezem a IA clássica: ela ainda é pelo menos 60% da nossa atuação no mercado. E a generativa me ajudou a fazer a clássica."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tradicional × Aprendizado de Máquina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ML começa pelo fim"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entrada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59552" y="1856232"/>
            <a:ext cx="457200" cy="310896"/>
          </a:xfrm>
          <a:prstGeom prst="rightArrow">
            <a:avLst/>
          </a:prstGeom>
          <a:solidFill>
            <a:srgbClr val="DDDAE3"/>
          </a:solidFill>
          <a:ln w="12700">
            <a:solidFill>
              <a:srgbClr val="DD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600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(regras)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39912" y="1856232"/>
            <a:ext cx="457200" cy="310896"/>
          </a:xfrm>
          <a:prstGeom prst="rightArrow">
            <a:avLst/>
          </a:prstGeom>
          <a:solidFill>
            <a:srgbClr val="DDDAE3"/>
          </a:solidFill>
          <a:ln w="12700">
            <a:solidFill>
              <a:srgbClr val="DD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1600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saída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saída (rótulos)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59552" y="2953512"/>
            <a:ext cx="457200" cy="310896"/>
          </a:xfrm>
          <a:prstGeom prst="rightArrow">
            <a:avLst/>
          </a:prstGeom>
          <a:solidFill>
            <a:srgbClr val="DDDAE3"/>
          </a:solidFill>
          <a:ln w="12700">
            <a:solidFill>
              <a:srgbClr val="DDDA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2697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ML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39912" y="2953512"/>
            <a:ext cx="457200" cy="310896"/>
          </a:xfrm>
          <a:prstGeom prst="rightArrow">
            <a:avLst/>
          </a:prstGeom>
          <a:solidFill>
            <a:srgbClr val="DDDAE3"/>
          </a:solidFill>
          <a:ln w="12700">
            <a:solidFill>
              <a:srgbClr val="DD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697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Malha fina de if-else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498848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= ticket acima do padrão E 5 erros de senha E IP distante…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 e engessada: "somos criativos para o bem e para o mal", e todo dia surge fraude nova.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93192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 com a base rotulada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498848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 o histórico "fraude / não fraude" com todas as nuances. Uma fraude inédita passa uma única vez: depois é rotulada e o modelo é retreinado.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da IA aplicada hoje é supervisionada.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supervisionado na prática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3072384" cy="2345297"/>
          </a:xfrm>
          <a:prstGeom prst="roundRect">
            <a:avLst>
              <a:gd name="adj" fmla="val 3119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34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926080" cy="21989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771761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Draw! (Google)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8368" y="3950208"/>
            <a:ext cx="3072384" cy="2345297"/>
          </a:xfrm>
          <a:prstGeom prst="roundRect">
            <a:avLst>
              <a:gd name="adj" fmla="val 3119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Users/antoniosergiorfigueiredo/AulasMBA/AI-Core-Concepts/ppt_build/img/pg36-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2926080" cy="21989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6332081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 (Microsoft): com / sem máscara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1463040"/>
            <a:ext cx="411480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Draw!: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compara o traço com milhões de desenhos rotulados. O rato da professora teve o maior match; o crocodilo e o sapo ficaram atrás.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Hipopótamo rosa: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exemplos reais e a criança reconhece até uma variação nova. Isso é aprendizado supervisionado.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× teste: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dados inéditos para o teste; "se ele já viu, ele cola".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humano enorme e sujeito a erro (a OpenAI foi acusada de terceirizar essa mão de obra).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869680" y="1463040"/>
            <a:ext cx="2834640" cy="4846320"/>
          </a:xfrm>
          <a:prstGeom prst="roundRect">
            <a:avLst>
              <a:gd name="adj" fmla="val 3226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5256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acerto não é bom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052560" y="32004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o modelo decorou uma amostra pequena ou idealizada. "A realidade nunca é quadrada."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Casos-limite: a mão na frente da boca, ou uma máscara com mão estampada.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tipos de Machine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ROTULADOS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(fraude sim/não) e regressão (prever valor).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com gabarito: o hipopótamo no zoológico.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4630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 rótulo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54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Clusterização, regras de associação, redução de dimensão.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semelhantes sem saber o nome do grupo.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reforço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× ambiente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154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e erro com recompensa (fitness).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Castigo e prêmio: MarI/O, robôs, carros autônomos.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× Clusterização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5449824" cy="413198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39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303520" cy="39856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55584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Bruno Kenji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e-commerce: clusters de navegação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92240" y="20574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preço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6243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de forma objetiva, vai direto ao produto e não compra → oferecer desconto ("o motivo nº 1 é preço").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41605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Oferta dos indecisos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47274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 coisas muito diversas → desconto não faz sentido; a abordagem é outra (curadoria, recomendação).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reforço: o MarI/O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5449824" cy="413198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pg40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303520" cy="39856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1463040"/>
            <a:ext cx="521208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vê: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e inimigos (entradas) → botões do controle (ações).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reforço: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quando o Mario avança e despenca quando ele erra. "Ela entende que acerta sem entender de Mario."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e carros autônomos em simuladores: "passou no vermelho → despenca o fitness".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45720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4663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 da professora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estruturado → Machine Learning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não estruturado (imagem, vídeo, áudio) → Deep Learning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do Machine Learning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"Dá para passar uns três anos só aprendendo esse mapinha"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5907024" cy="4475572"/>
          </a:xfrm>
          <a:prstGeom prst="roundRect">
            <a:avLst>
              <a:gd name="adj" fmla="val 1634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Users/antoniosergiorfigueiredo/AulasMBA/AI-Core-Concepts/ppt_build/img/pg41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760720" cy="43292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59934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DATAGEEKS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1554480"/>
            <a:ext cx="475488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Clássico supervisionado: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(árvores, SVM, regressão logística) e regressão (linear).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Clássico não supervisionado: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(K-Means), padrões (Apriori), redução (PCA).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(bagging), XGBoost (boosting).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DQN, algoritmos genéticos.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/ DL: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(imagem), RNN (sequência), GAN, autoencoders.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ramo que desce para a IA generativa (Transformers e LLMs).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estatística (Pearson)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duas métricas caminham juntas, uma pista e não uma prova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176272" cy="457200"/>
          </a:xfrm>
          <a:prstGeom prst="rect">
            <a:avLst/>
          </a:prstGeom>
          <a:solidFill>
            <a:srgbClr val="1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7792" y="1737360"/>
            <a:ext cx="2176272" cy="457200"/>
          </a:xfrm>
          <a:prstGeom prst="rect">
            <a:avLst/>
          </a:prstGeom>
          <a:solidFill>
            <a:srgbClr val="9FD3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84064" y="1737360"/>
            <a:ext cx="2176272" cy="457200"/>
          </a:xfrm>
          <a:prstGeom prst="rect">
            <a:avLst/>
          </a:prstGeom>
          <a:solidFill>
            <a:srgbClr val="E6E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0336" y="1737360"/>
            <a:ext cx="2176272" cy="457200"/>
          </a:xfrm>
          <a:prstGeom prst="rect">
            <a:avLst/>
          </a:prstGeom>
          <a:solidFill>
            <a:srgbClr val="F6A9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36608" y="1737360"/>
            <a:ext cx="2176272" cy="457200"/>
          </a:xfrm>
          <a:prstGeom prst="rect">
            <a:avLst/>
          </a:prstGeom>
          <a:solidFill>
            <a:srgbClr val="ED14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91272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do exercício: r &gt; 0,4 ou r &lt; −0,4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🍦 Sorvete × temperatura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40156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 positiva: sobem juntas. Serve para planejar estoque e sazonalidade.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Frio × varejo nos EUA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40156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forte e negativa, mas é ESPÚRIA: quem move o varejo são Ação de Graças e Natal.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28346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Nicolas Cage × afogamentos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40156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+1 e mera coincidência. Correlação não implica causalidade.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166360"/>
            <a:ext cx="10972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correlação também é informação: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"fiz uma ação de marketing e não há correlação: ela não funcionou".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diretor, mostre o gráfico de dispersão,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 matriz.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em aula: Trade Marketing (Red Bull)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capturas no ponto de venda · Copilot no Excel: "Aplique correlação estatística"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9D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9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0" y="1600200"/>
            <a:ext cx="48463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Distribuída × vendida (+0,92):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gera venda? Ou a venda puxa a reposição? Giro de estoque?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 × preço (−0,98):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promotor negocia preço? reduz margem? leva o preço sugerido? ou só vai à loja em época de promoção (variável omitida)?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 × vendida (0,33):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"tímido"; mas a taxa de conversão sobe (64% × 41%).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402336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41148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 = Machine Learning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vendida ≈ 0,65 × distribuída − 7,6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D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de tendência do gráfico de dispersão já é um modelo: dado um eixo, infiro o outro. Distribuindo 150 → cerca de 90 vendidas (cuidado ao extrapolar).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CX: o Paradoxo de Simpson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metrica_cx_corr_v2 · 420 chamados do Suporte de TI interno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07008" y="1527048"/>
            <a:ext cx="9747504" cy="3575304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Users/antoniosergiorfigueiredo/AulasMBA/AI-Core-Concepts/ppt_build/img/02_simp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9601200" cy="3429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5349240"/>
            <a:ext cx="10881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total,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× satisfação = +0,42 ("demorar é bom"?!).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criticidade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inverte: −0,49 a −0,57. A criticidade é a variável omitida: chamados críticos demoram mais E recebem notas maiores.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CX: é o canal, não a idade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24128" y="1389888"/>
            <a:ext cx="10204704" cy="3379361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9525">
            <a:solidFill>
              <a:srgbClr val="DDD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Users/antoniosergiorfigueiredo/AulasMBA/AI-Core-Concepts/ppt_build/img/04_canal_idade_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10058400" cy="32330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5016137"/>
            <a:ext cx="10881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× CES = +0,50 é indireta: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dos colaboradores com 46+ usam o telefone, e o telefone tem CES de ~3,7 a 3,9 em QUALQUER faixa etária (chat ≈ 2,2).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que informa: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Criticidade × CES ≈ 0 e Tempo × CES ≈ 0. O esforço depende do canal.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Caderno de hipóteses: o processo da entrega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ED145B"/>
          </a:solidFill>
          <a:ln w="12700">
            <a:solidFill>
              <a:srgbClr val="ED14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dos dados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IA: feeling e experiência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 + correlação + leitura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da IA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Constatação · hipótese · causal indevida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Caderno final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e o que cai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Decisão, evidência, experimento, custo de errar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297680"/>
            <a:ext cx="10972800" cy="2011680"/>
          </a:xfrm>
          <a:prstGeom prst="roundRect">
            <a:avLst>
              <a:gd name="adj" fmla="val 4545"/>
            </a:avLst>
          </a:prstGeom>
          <a:solidFill>
            <a:srgbClr val="1B1B24"/>
          </a:solidFill>
          <a:ln w="12700">
            <a:solidFill>
              <a:srgbClr val="1B1B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43891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"Poderíamos pedir ao GPT para fazer tudo e ir dormir, mas não é a função de vocês na liderança de IA. Usem a IA como copiloto e se mantenham no loop: quem assina o caderno de hipóteses é você, não o LLM."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B24"/>
          </a:solidFill>
          <a:ln w="25400">
            <a:solidFill>
              <a:srgbClr val="ED14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17320" y="1783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o grupo sorteado e os RMs dos integrantes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B24"/>
          </a:solidFill>
          <a:ln w="25400">
            <a:solidFill>
              <a:srgbClr val="ED14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651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a Etapa 1 do caderno com o grupo, sem 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B24"/>
          </a:solidFill>
          <a:ln w="25400">
            <a:solidFill>
              <a:srgbClr val="ED14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 ajustar o caderno preenchido; exportar em PDF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B24"/>
          </a:solidFill>
          <a:ln w="25400">
            <a:solidFill>
              <a:srgbClr val="ED14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389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no portal até a próxima aula (RMs separados por vírgula)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5303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B24"/>
          </a:solidFill>
          <a:ln w="25400">
            <a:solidFill>
              <a:srgbClr val="ED14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5257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para a próxima aula: IA Generativa e como funcionam os LLMs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1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"Será que a minha vida está sendo decidida por algoritmos?" · Profª Tassiana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Core Concepts: Aula 1</dc:title>
  <dc:subject>PptxGenJS Presentation</dc:subject>
  <dc:creator>Antonio Sergio R. Figueiredo</dc:creator>
  <cp:lastModifiedBy>Antonio Sergio R. Figueiredo</cp:lastModifiedBy>
  <cp:revision>1</cp:revision>
  <dcterms:created xsi:type="dcterms:W3CDTF">2026-09-29T01:26:22Z</dcterms:created>
  <dcterms:modified xsi:type="dcterms:W3CDTF">2026-09-29T01:26:22Z</dcterms:modified>
</cp:coreProperties>
</file>